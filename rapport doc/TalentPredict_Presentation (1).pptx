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70" r:id="rId8"/>
    <p:sldId id="261" r:id="rId9"/>
    <p:sldId id="262" r:id="rId10"/>
    <p:sldId id="275" r:id="rId11"/>
    <p:sldId id="263" r:id="rId12"/>
    <p:sldId id="264" r:id="rId13"/>
    <p:sldId id="271" r:id="rId14"/>
    <p:sldId id="272" r:id="rId15"/>
    <p:sldId id="273" r:id="rId16"/>
    <p:sldId id="265" r:id="rId17"/>
    <p:sldId id="269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9144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1463040" cy="14630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TalentPredict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Plateforme IA de Gestion des Talents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5720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" name="Shape 9"/>
          <p:cNvSpPr/>
          <p:nvPr/>
        </p:nvSpPr>
        <p:spPr>
          <a:xfrm>
            <a:off x="694690" y="3186430"/>
            <a:ext cx="1645920" cy="34747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694690" y="320040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75585" y="3188335"/>
            <a:ext cx="1645920" cy="34747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2775585" y="3200400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Angular 21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8675" y="3200400"/>
            <a:ext cx="1645920" cy="34747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4638675" y="3188335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Zone de texte 25"/>
          <p:cNvSpPr txBox="1"/>
          <p:nvPr/>
        </p:nvSpPr>
        <p:spPr>
          <a:xfrm>
            <a:off x="6284595" y="4053205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</a:rPr>
              <a:t>realisée par :</a:t>
            </a:r>
            <a:endParaRPr lang="fr-FR" altLang="en-US">
              <a:ln w="12700" cmpd="sng">
                <a:solidFill>
                  <a:schemeClr val="bg1"/>
                </a:solidFill>
                <a:prstDash val="solid"/>
              </a:ln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FR" altLang="en-US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</a:rPr>
              <a:t>Barouni Rahma </a:t>
            </a:r>
            <a:endParaRPr lang="fr-FR" altLang="en-US">
              <a:ln w="12700" cmpd="sng">
                <a:solidFill>
                  <a:schemeClr val="bg1"/>
                </a:solidFill>
                <a:prstDash val="solid"/>
              </a:ln>
              <a:solidFill>
                <a:schemeClr val="bg2">
                  <a:lumMod val="75000"/>
                </a:schemeClr>
              </a:solidFill>
            </a:endParaRPr>
          </a:p>
          <a:p>
            <a:r>
              <a:rPr lang="fr-FR" altLang="en-US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</a:rPr>
              <a:t>Abdeladhim Mohamed</a:t>
            </a:r>
            <a:endParaRPr lang="fr-FR" altLang="en-US">
              <a:ln w="12700" cmpd="sng">
                <a:solidFill>
                  <a:schemeClr val="bg1"/>
                </a:solidFill>
                <a:prstDash val="solid"/>
              </a:ln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|  Présentation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37490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64008" cy="37490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457200" y="120700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Qu'est-ce que TalentPredict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TalentPredict </a:t>
            </a:r>
            <a:r>
              <a:rPr lang="en-US" sz="1000" dirty="0">
                <a:solidFill>
                  <a:srgbClr val="1E293B"/>
                </a:solidFill>
              </a:rPr>
              <a:t>est une plateforme RH intelligente qui combine l'analyse de personnalité PCM et l'IA  pour 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395728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694944" y="2377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Identifier les lacunes de compétences des employés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898648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694944" y="28803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Générer des recommandations de formations personnalisées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401568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694944" y="33832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Suivre la progression des talents en temps réel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904488"/>
            <a:ext cx="201168" cy="201168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694944" y="3886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Fournir un dashboard RH pour piloter les évaluations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343400" cy="17373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97280"/>
            <a:ext cx="434340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709160" y="11704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👤  Employé (USER)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57276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Tests PCM + analyse 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792224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Gérer ses compétences SOFT/TECH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Suivre ses formations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31136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Voir son profil (GitHub, CV, LinkedIn)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4505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Dashboard personnel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944368"/>
            <a:ext cx="43434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44368"/>
            <a:ext cx="4343400" cy="54864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4709160" y="30175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🏢  RH / Manager (ADMIN)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0156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Dashboard RH — vue globale de tous les employés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66674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Gestion des comptes (créer, suspendre, supprimer)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9319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Valider les compétences déclarées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1970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Gérer les tickets Jira des formations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446227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• Voir les prédictions IA de chaque employé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|  Architecture &amp; Stack Technique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914400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7043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Angular 21 · SSR · TailwindCSS v4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solidFill>
            <a:srgbClr val="2563E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7043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Spring Boot 3.4 · Java 21 · JWT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914400"/>
          </a:xfrm>
          <a:prstGeom prst="rect">
            <a:avLst/>
          </a:prstGeom>
          <a:solidFill>
            <a:srgbClr val="7C3AE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70432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DONNÉES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57276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PostgreSQL 15 · JPA / Hibernate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52928" y="1417320"/>
            <a:ext cx="420624" cy="1097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5888736" y="1417320"/>
            <a:ext cx="402336" cy="10972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2834640" y="129844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API REST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870448" y="129844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JPA/SQL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Modules Backend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3347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33472"/>
            <a:ext cx="54864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402336" y="266090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auth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889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Authentification JWT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23160" y="263347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23160" y="2633472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4" name="Text 22"/>
          <p:cNvSpPr/>
          <p:nvPr/>
        </p:nvSpPr>
        <p:spPr>
          <a:xfrm>
            <a:off x="2551176" y="266090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account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2889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Comptes &amp; Profils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0" y="263347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633472"/>
            <a:ext cx="54864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8" name="Text 26"/>
          <p:cNvSpPr/>
          <p:nvPr/>
        </p:nvSpPr>
        <p:spPr>
          <a:xfrm>
            <a:off x="4700016" y="266090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evaluation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889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Tests PCM &amp; Compétences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20840" y="263347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2633472"/>
            <a:ext cx="54864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Text 30"/>
          <p:cNvSpPr/>
          <p:nvPr/>
        </p:nvSpPr>
        <p:spPr>
          <a:xfrm>
            <a:off x="6848856" y="266090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48856" y="2889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Prédictions GPT-4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322783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27832"/>
            <a:ext cx="54864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402336" y="325526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formation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2336" y="34838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Formations &amp; Suivi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23160" y="322783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23160" y="3227832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0" name="Text 38"/>
          <p:cNvSpPr/>
          <p:nvPr/>
        </p:nvSpPr>
        <p:spPr>
          <a:xfrm>
            <a:off x="2551176" y="325526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dashboard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51176" y="34838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Dashboards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322783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3227832"/>
            <a:ext cx="54864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4" name="Text 42"/>
          <p:cNvSpPr/>
          <p:nvPr/>
        </p:nvSpPr>
        <p:spPr>
          <a:xfrm>
            <a:off x="4700016" y="325526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jira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0016" y="34838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Tickets Jira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20840" y="3227832"/>
            <a:ext cx="2029968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20840" y="3227832"/>
            <a:ext cx="54864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6848856" y="3255264"/>
            <a:ext cx="1828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skills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48856" y="348386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Skills Management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17720" y="22402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Intégrations Externes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617720" y="2633472"/>
            <a:ext cx="420624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2633472"/>
            <a:ext cx="54864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3" name="Text 51"/>
          <p:cNvSpPr/>
          <p:nvPr/>
        </p:nvSpPr>
        <p:spPr>
          <a:xfrm>
            <a:off x="4736592" y="2660904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OpenAI GPT-4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36592" y="288950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Analyse PCM + Prédictions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17720" y="3227832"/>
            <a:ext cx="420624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17720" y="3227832"/>
            <a:ext cx="54864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7" name="Text 55"/>
          <p:cNvSpPr/>
          <p:nvPr/>
        </p:nvSpPr>
        <p:spPr>
          <a:xfrm>
            <a:off x="4736592" y="3255264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Jira REST API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36592" y="348386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Tickets de formation (optionnel)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617720" y="3822192"/>
            <a:ext cx="420624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17720" y="3822192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1" name="Text 59"/>
          <p:cNvSpPr/>
          <p:nvPr/>
        </p:nvSpPr>
        <p:spPr>
          <a:xfrm>
            <a:off x="4736592" y="3849624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Spring Mail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36592" y="40782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Reset mot de passe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17720" y="4416552"/>
            <a:ext cx="4206240" cy="502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4416552"/>
            <a:ext cx="54864" cy="5029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5" name="Text 63"/>
          <p:cNvSpPr/>
          <p:nvPr/>
        </p:nvSpPr>
        <p:spPr>
          <a:xfrm>
            <a:off x="4736592" y="4443984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GitLab CI/CD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736592" y="467258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Build · Test · Deploy · Docker</a:t>
            </a:r>
            <a:endParaRPr lang="en-US" sz="800" dirty="0"/>
          </a:p>
        </p:txBody>
      </p:sp>
      <p:pic>
        <p:nvPicPr>
          <p:cNvPr id="67" name="Imag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90" y="3926205"/>
            <a:ext cx="1765300" cy="993140"/>
          </a:xfrm>
          <a:prstGeom prst="rect">
            <a:avLst/>
          </a:prstGeom>
        </p:spPr>
      </p:pic>
      <p:pic>
        <p:nvPicPr>
          <p:cNvPr id="68" name="Image 67"/>
          <p:cNvPicPr>
            <a:picLocks noChangeAspect="1"/>
          </p:cNvPicPr>
          <p:nvPr/>
        </p:nvPicPr>
        <p:blipFill>
          <a:blip r:embed="rId2"/>
          <a:srcRect r="41058" b="-4085"/>
          <a:stretch>
            <a:fillRect/>
          </a:stretch>
        </p:blipFill>
        <p:spPr>
          <a:xfrm>
            <a:off x="2423160" y="3849370"/>
            <a:ext cx="1957070" cy="12179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Base de Données — Entités &amp;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78992"/>
            <a:ext cx="2871216" cy="29260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" name="Text 4"/>
          <p:cNvSpPr/>
          <p:nvPr/>
        </p:nvSpPr>
        <p:spPr>
          <a:xfrm>
            <a:off x="292608" y="107899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accounts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2608" y="1399032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email, role, firstName, lastName, department, position, isActive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191256" y="1078992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91256" y="1078992"/>
            <a:ext cx="2871216" cy="2926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3282696" y="107899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82696" y="1399032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titreProfessionnel, githubUrl, cvUrl, lienLinkedin, account_id (FK)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81344" y="1078992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078992"/>
            <a:ext cx="2871216" cy="2926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6272784" y="107899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skills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72784" y="1399032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nom, type(SOFT/TECH), niveau(1-5), validee, account_id (FK)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1168" y="2048256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048256"/>
            <a:ext cx="2871216" cy="2926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92608" y="204825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tests_personnalite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2608" y="236829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typeTest, reponses, analyseLlm, score, account_id (FK)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191256" y="2048256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91256" y="2048256"/>
            <a:ext cx="2871216" cy="29260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282696" y="204825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82696" y="236829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analyse, scoreConfiance, statut, account_id (FK)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81344" y="2048256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1344" y="2048256"/>
            <a:ext cx="2871216" cy="2926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4"/>
          <p:cNvSpPr/>
          <p:nvPr/>
        </p:nvSpPr>
        <p:spPr>
          <a:xfrm>
            <a:off x="6272784" y="204825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368296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titre, type, statut, progression(0-100), account_id, prediction_id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1168" y="3017520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017520"/>
            <a:ext cx="2871216" cy="29260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292608" y="3017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recommendations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3337560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titre, score, priorite, account_id (FK)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91256" y="3017520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91256" y="3017520"/>
            <a:ext cx="2871216" cy="29260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34" name="Text 32"/>
          <p:cNvSpPr/>
          <p:nvPr/>
        </p:nvSpPr>
        <p:spPr>
          <a:xfrm>
            <a:off x="3282696" y="3017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competence_account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82696" y="3337560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score, UNIQUE(account_id+competence_id)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81344" y="3017520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017520"/>
            <a:ext cx="2871216" cy="2926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8" name="Text 36"/>
          <p:cNvSpPr/>
          <p:nvPr/>
        </p:nvSpPr>
        <p:spPr>
          <a:xfrm>
            <a:off x="6272784" y="3017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inscriptions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72784" y="3337560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statut, progression, noteFinale, account_id, formation_id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1168" y="3986784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" y="3986784"/>
            <a:ext cx="2871216" cy="2926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292608" y="398678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tickets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92608" y="4306824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jiraKey(UNIQUE), statut, priorite, formation_id (FK)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191256" y="3986784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91256" y="3986784"/>
            <a:ext cx="2871216" cy="29260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3282696" y="398678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pcm_results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82696" y="4306824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typePCM, scoreTravail, scoreReactif, profile_id (FK)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81344" y="3986784"/>
            <a:ext cx="2871216" cy="868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81344" y="3986784"/>
            <a:ext cx="2871216" cy="29260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50" name="Text 48"/>
          <p:cNvSpPr/>
          <p:nvPr/>
        </p:nvSpPr>
        <p:spPr>
          <a:xfrm>
            <a:off x="6272784" y="398678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password_reset_tokens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4306824"/>
            <a:ext cx="269748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id, token(UNIQUE), expiryDate, used, account_id (FK)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123315"/>
            <a:ext cx="1663065" cy="2081530"/>
          </a:xfrm>
          <a:prstGeom prst="round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85" y="1123315"/>
            <a:ext cx="2255520" cy="1800860"/>
          </a:xfrm>
          <a:prstGeom prst="round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535" y="1223010"/>
            <a:ext cx="2486660" cy="1679575"/>
          </a:xfrm>
          <a:prstGeom prst="round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05" y="3368040"/>
            <a:ext cx="2068830" cy="1603375"/>
          </a:xfrm>
          <a:prstGeom prst="round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770" y="3368040"/>
            <a:ext cx="2410460" cy="1521460"/>
          </a:xfrm>
          <a:prstGeom prst="round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3280" y="3368040"/>
            <a:ext cx="2367915" cy="930910"/>
          </a:xfrm>
          <a:prstGeom prst="roundRect">
            <a:avLst/>
          </a:prstGeom>
        </p:spPr>
      </p:pic>
      <p:sp>
        <p:nvSpPr>
          <p:cNvPr id="64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endParaRPr lang="en-US" b="1" dirty="0">
              <a:solidFill>
                <a:srgbClr val="FFFFFF"/>
              </a:solidFill>
              <a:sym typeface="+mn-ea"/>
            </a:endParaRPr>
          </a:p>
          <a:p>
            <a:r>
              <a:rPr lang="en-US" sz="2000" b="1" dirty="0">
                <a:solidFill>
                  <a:srgbClr val="FFFFFF"/>
                </a:solidFill>
                <a:sym typeface="+mn-ea"/>
              </a:rPr>
              <a:t>03  |  Base de Données — Entités &amp; Tables</a:t>
            </a:r>
            <a:endParaRPr 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Relations entre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1463040" cy="329184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201168" y="1078992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82496" y="1078992"/>
            <a:ext cx="1554480" cy="329184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7" name="Text 5"/>
          <p:cNvSpPr/>
          <p:nvPr/>
        </p:nvSpPr>
        <p:spPr>
          <a:xfrm>
            <a:off x="1682496" y="1078992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55264" y="1078992"/>
            <a:ext cx="1280160" cy="329184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3255264" y="1078992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53712" y="1078992"/>
            <a:ext cx="2834640" cy="329184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1" name="Text 9"/>
          <p:cNvSpPr/>
          <p:nvPr/>
        </p:nvSpPr>
        <p:spPr>
          <a:xfrm>
            <a:off x="4553712" y="10789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Clé FK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1078992"/>
            <a:ext cx="1051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" y="142646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237744" y="142646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1682496" y="142646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1719072" y="142646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Profile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255264" y="142646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3291840" y="142646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7C3AED"/>
                </a:solidFill>
              </a:rPr>
              <a:t>OneToOne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553712" y="142646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4590288" y="142646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profiles.account_id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01168" y="170078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237744" y="170078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682496" y="170078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7" name="Text 25"/>
          <p:cNvSpPr/>
          <p:nvPr/>
        </p:nvSpPr>
        <p:spPr>
          <a:xfrm>
            <a:off x="1719072" y="170078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PersonalityTest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255264" y="170078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Text 27"/>
          <p:cNvSpPr/>
          <p:nvPr/>
        </p:nvSpPr>
        <p:spPr>
          <a:xfrm>
            <a:off x="3291840" y="170078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53712" y="170078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Text 29"/>
          <p:cNvSpPr/>
          <p:nvPr/>
        </p:nvSpPr>
        <p:spPr>
          <a:xfrm>
            <a:off x="4590288" y="170078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tests_personnalite.account_id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01168" y="197510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237744" y="197510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1682496" y="197510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1719072" y="197510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Skill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255264" y="197510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3291840" y="197510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553712" y="197510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4590288" y="197510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skills.account_id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01168" y="224942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5" name="Text 43"/>
          <p:cNvSpPr/>
          <p:nvPr/>
        </p:nvSpPr>
        <p:spPr>
          <a:xfrm>
            <a:off x="237744" y="224942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1682496" y="224942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7" name="Text 45"/>
          <p:cNvSpPr/>
          <p:nvPr/>
        </p:nvSpPr>
        <p:spPr>
          <a:xfrm>
            <a:off x="1719072" y="224942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Prediction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3255264" y="224942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9" name="Text 47"/>
          <p:cNvSpPr/>
          <p:nvPr/>
        </p:nvSpPr>
        <p:spPr>
          <a:xfrm>
            <a:off x="3291840" y="224942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553712" y="224942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1" name="Text 49"/>
          <p:cNvSpPr/>
          <p:nvPr/>
        </p:nvSpPr>
        <p:spPr>
          <a:xfrm>
            <a:off x="4590288" y="224942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predictions.account_id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201168" y="252374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237744" y="252374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1682496" y="252374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1719072" y="252374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255264" y="252374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3291840" y="252374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553712" y="252374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4590288" y="252374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formations.account_id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7443216" y="2523744"/>
            <a:ext cx="9784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201168" y="279806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5" name="Text 63"/>
          <p:cNvSpPr/>
          <p:nvPr/>
        </p:nvSpPr>
        <p:spPr>
          <a:xfrm>
            <a:off x="237744" y="279806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1682496" y="279806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7" name="Text 65"/>
          <p:cNvSpPr/>
          <p:nvPr/>
        </p:nvSpPr>
        <p:spPr>
          <a:xfrm>
            <a:off x="1719072" y="279806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3255264" y="279806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9" name="Text 67"/>
          <p:cNvSpPr/>
          <p:nvPr/>
        </p:nvSpPr>
        <p:spPr>
          <a:xfrm>
            <a:off x="3291840" y="279806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553712" y="279806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1" name="Text 69"/>
          <p:cNvSpPr/>
          <p:nvPr/>
        </p:nvSpPr>
        <p:spPr>
          <a:xfrm>
            <a:off x="4590288" y="279806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recommendations.account_id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201168" y="307238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237744" y="307238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Account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1682496" y="307238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7" name="Text 75"/>
          <p:cNvSpPr/>
          <p:nvPr/>
        </p:nvSpPr>
        <p:spPr>
          <a:xfrm>
            <a:off x="1719072" y="307238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CompetenceAccount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3255264" y="307238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9" name="Text 77"/>
          <p:cNvSpPr/>
          <p:nvPr/>
        </p:nvSpPr>
        <p:spPr>
          <a:xfrm>
            <a:off x="3291840" y="307238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553712" y="307238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4590288" y="307238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competence_account.account_id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201168" y="334670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5" name="Text 83"/>
          <p:cNvSpPr/>
          <p:nvPr/>
        </p:nvSpPr>
        <p:spPr>
          <a:xfrm>
            <a:off x="237744" y="334670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Profile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1682496" y="334670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7" name="Text 85"/>
          <p:cNvSpPr/>
          <p:nvPr/>
        </p:nvSpPr>
        <p:spPr>
          <a:xfrm>
            <a:off x="1719072" y="334670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PCMResult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3255264" y="334670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Text 87"/>
          <p:cNvSpPr/>
          <p:nvPr/>
        </p:nvSpPr>
        <p:spPr>
          <a:xfrm>
            <a:off x="3291840" y="334670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4553712" y="334670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1" name="Text 89"/>
          <p:cNvSpPr/>
          <p:nvPr/>
        </p:nvSpPr>
        <p:spPr>
          <a:xfrm>
            <a:off x="4590288" y="334670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pcm_results.profile_id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201168" y="362102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237744" y="362102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Prediction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1682496" y="362102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 95"/>
          <p:cNvSpPr/>
          <p:nvPr/>
        </p:nvSpPr>
        <p:spPr>
          <a:xfrm>
            <a:off x="1719072" y="362102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3255264" y="362102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9" name="Text 97"/>
          <p:cNvSpPr/>
          <p:nvPr/>
        </p:nvSpPr>
        <p:spPr>
          <a:xfrm>
            <a:off x="3291840" y="362102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4553712" y="362102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90288" y="362102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formations.prediction_id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201168" y="389534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5" name="Text 103"/>
          <p:cNvSpPr/>
          <p:nvPr/>
        </p:nvSpPr>
        <p:spPr>
          <a:xfrm>
            <a:off x="237744" y="389534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1682496" y="389534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7" name="Text 105"/>
          <p:cNvSpPr/>
          <p:nvPr/>
        </p:nvSpPr>
        <p:spPr>
          <a:xfrm>
            <a:off x="1719072" y="389534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Ticket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3255264" y="389534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9" name="Text 107"/>
          <p:cNvSpPr/>
          <p:nvPr/>
        </p:nvSpPr>
        <p:spPr>
          <a:xfrm>
            <a:off x="3291840" y="389534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4553712" y="389534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1" name="Text 109"/>
          <p:cNvSpPr/>
          <p:nvPr/>
        </p:nvSpPr>
        <p:spPr>
          <a:xfrm>
            <a:off x="4590288" y="389534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tickets.formation_id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201168" y="416966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5" name="Text 113"/>
          <p:cNvSpPr/>
          <p:nvPr/>
        </p:nvSpPr>
        <p:spPr>
          <a:xfrm>
            <a:off x="237744" y="416966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Formation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1682496" y="416966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7" name="Text 115"/>
          <p:cNvSpPr/>
          <p:nvPr/>
        </p:nvSpPr>
        <p:spPr>
          <a:xfrm>
            <a:off x="1719072" y="416966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Inscription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3255264" y="416966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9" name="Text 117"/>
          <p:cNvSpPr/>
          <p:nvPr/>
        </p:nvSpPr>
        <p:spPr>
          <a:xfrm>
            <a:off x="3291840" y="416966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4553712" y="416966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1" name="Text 119"/>
          <p:cNvSpPr/>
          <p:nvPr/>
        </p:nvSpPr>
        <p:spPr>
          <a:xfrm>
            <a:off x="4590288" y="416966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inscriptions.formation_id</a:t>
            </a:r>
            <a:endParaRPr lang="en-US" sz="780" dirty="0"/>
          </a:p>
        </p:txBody>
      </p:sp>
      <p:sp>
        <p:nvSpPr>
          <p:cNvPr id="123" name="Text 121"/>
          <p:cNvSpPr/>
          <p:nvPr/>
        </p:nvSpPr>
        <p:spPr>
          <a:xfrm>
            <a:off x="7443216" y="4169664"/>
            <a:ext cx="9784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124" name="Shape 122"/>
          <p:cNvSpPr/>
          <p:nvPr/>
        </p:nvSpPr>
        <p:spPr>
          <a:xfrm>
            <a:off x="201168" y="4443984"/>
            <a:ext cx="14630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5" name="Text 123"/>
          <p:cNvSpPr/>
          <p:nvPr/>
        </p:nvSpPr>
        <p:spPr>
          <a:xfrm>
            <a:off x="237744" y="444398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26" name="Shape 124"/>
          <p:cNvSpPr/>
          <p:nvPr/>
        </p:nvSpPr>
        <p:spPr>
          <a:xfrm>
            <a:off x="1682496" y="4443984"/>
            <a:ext cx="155448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7" name="Text 125"/>
          <p:cNvSpPr/>
          <p:nvPr/>
        </p:nvSpPr>
        <p:spPr>
          <a:xfrm>
            <a:off x="1719072" y="444398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RecommendationItem</a:t>
            </a:r>
            <a:endParaRPr lang="en-US" sz="780" dirty="0"/>
          </a:p>
        </p:txBody>
      </p:sp>
      <p:sp>
        <p:nvSpPr>
          <p:cNvPr id="128" name="Shape 126"/>
          <p:cNvSpPr/>
          <p:nvPr/>
        </p:nvSpPr>
        <p:spPr>
          <a:xfrm>
            <a:off x="3255264" y="4443984"/>
            <a:ext cx="128016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9" name="Text 127"/>
          <p:cNvSpPr/>
          <p:nvPr/>
        </p:nvSpPr>
        <p:spPr>
          <a:xfrm>
            <a:off x="3291840" y="444398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563EB"/>
                </a:solidFill>
              </a:rPr>
              <a:t>OneToMany</a:t>
            </a:r>
            <a:endParaRPr lang="en-US" sz="780" dirty="0"/>
          </a:p>
        </p:txBody>
      </p:sp>
      <p:sp>
        <p:nvSpPr>
          <p:cNvPr id="130" name="Shape 128"/>
          <p:cNvSpPr/>
          <p:nvPr/>
        </p:nvSpPr>
        <p:spPr>
          <a:xfrm>
            <a:off x="4553712" y="4443984"/>
            <a:ext cx="2834640" cy="265176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31" name="Text 129"/>
          <p:cNvSpPr/>
          <p:nvPr/>
        </p:nvSpPr>
        <p:spPr>
          <a:xfrm>
            <a:off x="4590288" y="444398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recommendation_items.recommendation_id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201168" y="4718304"/>
            <a:ext cx="14630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5" name="Text 133"/>
          <p:cNvSpPr/>
          <p:nvPr/>
        </p:nvSpPr>
        <p:spPr>
          <a:xfrm>
            <a:off x="237744" y="4718304"/>
            <a:ext cx="13898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CompetenceAccount</a:t>
            </a:r>
            <a:endParaRPr lang="en-US" sz="780" dirty="0"/>
          </a:p>
        </p:txBody>
      </p:sp>
      <p:sp>
        <p:nvSpPr>
          <p:cNvPr id="136" name="Shape 134"/>
          <p:cNvSpPr/>
          <p:nvPr/>
        </p:nvSpPr>
        <p:spPr>
          <a:xfrm>
            <a:off x="1682496" y="4718304"/>
            <a:ext cx="155448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7" name="Text 135"/>
          <p:cNvSpPr/>
          <p:nvPr/>
        </p:nvSpPr>
        <p:spPr>
          <a:xfrm>
            <a:off x="1719072" y="4718304"/>
            <a:ext cx="148132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Competence</a:t>
            </a:r>
            <a:endParaRPr lang="en-US" sz="780" dirty="0"/>
          </a:p>
        </p:txBody>
      </p:sp>
      <p:sp>
        <p:nvSpPr>
          <p:cNvPr id="138" name="Shape 136"/>
          <p:cNvSpPr/>
          <p:nvPr/>
        </p:nvSpPr>
        <p:spPr>
          <a:xfrm>
            <a:off x="3255264" y="4718304"/>
            <a:ext cx="128016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9" name="Text 137"/>
          <p:cNvSpPr/>
          <p:nvPr/>
        </p:nvSpPr>
        <p:spPr>
          <a:xfrm>
            <a:off x="3291840" y="4718304"/>
            <a:ext cx="120700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9488"/>
                </a:solidFill>
              </a:rPr>
              <a:t>ManyToOne</a:t>
            </a:r>
            <a:endParaRPr lang="en-US" sz="780" dirty="0"/>
          </a:p>
        </p:txBody>
      </p:sp>
      <p:sp>
        <p:nvSpPr>
          <p:cNvPr id="140" name="Shape 138"/>
          <p:cNvSpPr/>
          <p:nvPr/>
        </p:nvSpPr>
        <p:spPr>
          <a:xfrm>
            <a:off x="4553712" y="4718304"/>
            <a:ext cx="2834640" cy="2651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1" name="Text 139"/>
          <p:cNvSpPr/>
          <p:nvPr/>
        </p:nvSpPr>
        <p:spPr>
          <a:xfrm>
            <a:off x="4590288" y="4718304"/>
            <a:ext cx="2761488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</a:rPr>
              <a:t>competence_account.competence_id</a:t>
            </a:r>
            <a:endParaRPr lang="en-US" sz="780" dirty="0"/>
          </a:p>
        </p:txBody>
      </p:sp>
      <p:sp>
        <p:nvSpPr>
          <p:cNvPr id="150" name="Text 148"/>
          <p:cNvSpPr/>
          <p:nvPr/>
        </p:nvSpPr>
        <p:spPr>
          <a:xfrm>
            <a:off x="4945380" y="481888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54" name="Text 148"/>
          <p:cNvSpPr/>
          <p:nvPr/>
        </p:nvSpPr>
        <p:spPr>
          <a:xfrm>
            <a:off x="4846320" y="5020183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55" name="Text 148"/>
          <p:cNvSpPr/>
          <p:nvPr/>
        </p:nvSpPr>
        <p:spPr>
          <a:xfrm>
            <a:off x="4792980" y="5309743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159" name="Zone de texte 158"/>
          <p:cNvSpPr txBox="1"/>
          <p:nvPr/>
        </p:nvSpPr>
        <p:spPr>
          <a:xfrm>
            <a:off x="114300" y="13030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fr-F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|  API REST — Endpoints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078992"/>
            <a:ext cx="2743200" cy="292608"/>
          </a:xfrm>
          <a:prstGeom prst="rect">
            <a:avLst/>
          </a:prstGeom>
          <a:solidFill>
            <a:schemeClr val="accent1"/>
          </a:solidFill>
        </p:spPr>
        <p:txBody>
          <a:bodyPr/>
          <a:p>
            <a:endParaRPr lang="fr-FR" altLang="en-US"/>
          </a:p>
        </p:txBody>
      </p:sp>
      <p:sp>
        <p:nvSpPr>
          <p:cNvPr id="6" name="Text 4"/>
          <p:cNvSpPr/>
          <p:nvPr/>
        </p:nvSpPr>
        <p:spPr>
          <a:xfrm>
            <a:off x="292608" y="1078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" y="1426464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292608" y="14264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4672" y="1426464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/auth/register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4672" y="1536192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Inscription + choix rôle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92608" y="1728216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292608" y="17282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04672" y="1728216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/auth/login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04672" y="1837944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Connexion → JWT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" y="2029968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6" name="Text 14"/>
          <p:cNvSpPr/>
          <p:nvPr/>
        </p:nvSpPr>
        <p:spPr>
          <a:xfrm>
            <a:off x="292608" y="20299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04672" y="20299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/auth/forgot-password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4672" y="2139696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Reset mdp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2608" y="2331720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92608" y="23317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04672" y="2331720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/auth/reset-password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04672" y="2441448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Nouveau mdp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154680" y="1078992"/>
            <a:ext cx="2743200" cy="19476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078992"/>
            <a:ext cx="2743200" cy="29260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5" name="Text 23"/>
          <p:cNvSpPr/>
          <p:nvPr/>
        </p:nvSpPr>
        <p:spPr>
          <a:xfrm>
            <a:off x="3246120" y="1078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Accou</a:t>
            </a:r>
            <a:r>
              <a:rPr lang="fr-FR" altLang="en-US" sz="950" b="1" dirty="0">
                <a:solidFill>
                  <a:srgbClr val="FFFFFF"/>
                </a:solidFill>
              </a:rPr>
              <a:t>nt</a:t>
            </a:r>
            <a:endParaRPr lang="fr-FR" altLang="en-US" sz="950" b="1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6120" y="1426464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7" name="Text 25"/>
          <p:cNvSpPr/>
          <p:nvPr/>
        </p:nvSpPr>
        <p:spPr>
          <a:xfrm>
            <a:off x="3246120" y="14264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58184" y="1426464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/accounts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58184" y="1536192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Liste tous les comptes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46120" y="1728216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3246120" y="17282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758184" y="1728216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/accounts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58184" y="1837944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Créer un compte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46120" y="2029968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3246120" y="20299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758184" y="20299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/accounts/{id}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58184" y="2139696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Détail compte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46120" y="2331720"/>
            <a:ext cx="457200" cy="2011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3246120" y="23317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58184" y="2331720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/accounts/{id}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758184" y="2441448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Modifier compte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46120" y="2633472"/>
            <a:ext cx="457200" cy="20116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43" name="Text 41"/>
          <p:cNvSpPr/>
          <p:nvPr/>
        </p:nvSpPr>
        <p:spPr>
          <a:xfrm>
            <a:off x="3246120" y="263347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DELETE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758184" y="2633472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/accounts/{id}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758184" y="2743200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Supprimer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26480" y="1078992"/>
            <a:ext cx="2816352" cy="1042416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34100" y="1078992"/>
            <a:ext cx="2816352" cy="292608"/>
          </a:xfrm>
          <a:prstGeom prst="rect">
            <a:avLst/>
          </a:prstGeom>
          <a:solidFill>
            <a:schemeClr val="accent1"/>
          </a:solidFill>
        </p:spPr>
        <p:txBody>
          <a:bodyPr/>
          <a:p>
            <a:endParaRPr lang="fr-FR" altLang="en-US"/>
          </a:p>
        </p:txBody>
      </p:sp>
      <p:sp>
        <p:nvSpPr>
          <p:cNvPr id="48" name="Text 46"/>
          <p:cNvSpPr/>
          <p:nvPr/>
        </p:nvSpPr>
        <p:spPr>
          <a:xfrm>
            <a:off x="6217920" y="1078992"/>
            <a:ext cx="2633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Profile 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1426464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0" name="Text 48"/>
          <p:cNvSpPr/>
          <p:nvPr/>
        </p:nvSpPr>
        <p:spPr>
          <a:xfrm>
            <a:off x="6217920" y="14264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29984" y="142646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/profiles/accounts/{id}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729984" y="1536192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Lire profil étendu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17920" y="1728216"/>
            <a:ext cx="457200" cy="2011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4" name="Text 52"/>
          <p:cNvSpPr/>
          <p:nvPr/>
        </p:nvSpPr>
        <p:spPr>
          <a:xfrm>
            <a:off x="6217920" y="17282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729984" y="1728216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/profiles/accounts/{id}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729984" y="1837944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Modifier profil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01168" y="2907792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01168" y="2907792"/>
            <a:ext cx="2743200" cy="29260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9" name="Text 57"/>
          <p:cNvSpPr/>
          <p:nvPr/>
        </p:nvSpPr>
        <p:spPr>
          <a:xfrm>
            <a:off x="292608" y="2907792"/>
            <a:ext cx="2560320" cy="292608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Skills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92608" y="3255264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1" name="Text 59"/>
          <p:cNvSpPr/>
          <p:nvPr/>
        </p:nvSpPr>
        <p:spPr>
          <a:xfrm>
            <a:off x="292608" y="32552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04672" y="3255264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/skills/accounts/{id}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04672" y="3364992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Ajouter skill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92608" y="3557016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5" name="Text 63"/>
          <p:cNvSpPr/>
          <p:nvPr/>
        </p:nvSpPr>
        <p:spPr>
          <a:xfrm>
            <a:off x="292608" y="35570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04672" y="3557016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/skills/accounts/{id}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4672" y="3666744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Lister skills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2608" y="3858768"/>
            <a:ext cx="457200" cy="2011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69" name="Text 67"/>
          <p:cNvSpPr/>
          <p:nvPr/>
        </p:nvSpPr>
        <p:spPr>
          <a:xfrm>
            <a:off x="292608" y="38587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04672" y="38587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/skills/{id}/valider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04672" y="3968496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Valider (ADMIN)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92608" y="4160520"/>
            <a:ext cx="457200" cy="20116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73" name="Text 71"/>
          <p:cNvSpPr/>
          <p:nvPr/>
        </p:nvSpPr>
        <p:spPr>
          <a:xfrm>
            <a:off x="292608" y="4160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DELETE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04672" y="4160520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/skills/{id}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804672" y="4270248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Supprimer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154680" y="2907792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154680" y="2907792"/>
            <a:ext cx="2743200" cy="29260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8" name="Text 76"/>
          <p:cNvSpPr/>
          <p:nvPr/>
        </p:nvSpPr>
        <p:spPr>
          <a:xfrm>
            <a:off x="3246120" y="29077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Formations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46120" y="3255264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0" name="Text 78"/>
          <p:cNvSpPr/>
          <p:nvPr/>
        </p:nvSpPr>
        <p:spPr>
          <a:xfrm>
            <a:off x="3246120" y="32552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758184" y="3255264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/formations/accounts/{id}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3758184" y="3364992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Créer formation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246120" y="3557016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4" name="Text 82"/>
          <p:cNvSpPr/>
          <p:nvPr/>
        </p:nvSpPr>
        <p:spPr>
          <a:xfrm>
            <a:off x="3246120" y="35570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758184" y="3557016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/formations/accounts/{id}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758184" y="3666744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Lister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246120" y="3858768"/>
            <a:ext cx="457200" cy="2011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8" name="Text 86"/>
          <p:cNvSpPr/>
          <p:nvPr/>
        </p:nvSpPr>
        <p:spPr>
          <a:xfrm>
            <a:off x="3246120" y="38587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3758184" y="38587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/formations/{id}/statut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758184" y="3968496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Changer statut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3246120" y="4160520"/>
            <a:ext cx="457200" cy="20116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2" name="Text 90"/>
          <p:cNvSpPr/>
          <p:nvPr/>
        </p:nvSpPr>
        <p:spPr>
          <a:xfrm>
            <a:off x="3246120" y="4160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3758184" y="4160520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/formations/{id}/progression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3758184" y="4270248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Mise à jour %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126480" y="2907792"/>
            <a:ext cx="2816352" cy="16459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126480" y="2907792"/>
            <a:ext cx="2816352" cy="29260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97" name="Text 95"/>
          <p:cNvSpPr/>
          <p:nvPr/>
        </p:nvSpPr>
        <p:spPr>
          <a:xfrm>
            <a:off x="6217920" y="2907792"/>
            <a:ext cx="26334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Predictions + Dashboard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217920" y="3255264"/>
            <a:ext cx="457200" cy="20116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9" name="Text 97"/>
          <p:cNvSpPr/>
          <p:nvPr/>
        </p:nvSpPr>
        <p:spPr>
          <a:xfrm>
            <a:off x="6217920" y="32552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729984" y="325526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/predictions/.../generer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6729984" y="3364992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Générer IA (GPT-4)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217920" y="3557016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3" name="Text 101"/>
          <p:cNvSpPr/>
          <p:nvPr/>
        </p:nvSpPr>
        <p:spPr>
          <a:xfrm>
            <a:off x="6217920" y="3557016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6729984" y="3557016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/predictions/.../derniere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6729984" y="3666744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Dernière prédict.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217920" y="3858768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7" name="Text 105"/>
          <p:cNvSpPr/>
          <p:nvPr/>
        </p:nvSpPr>
        <p:spPr>
          <a:xfrm>
            <a:off x="6217920" y="385876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6729984" y="3858768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/dashboard/accounts/{id}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6729984" y="3968496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Dashboard employé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6217920" y="4160520"/>
            <a:ext cx="45720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11" name="Text 109"/>
          <p:cNvSpPr/>
          <p:nvPr/>
        </p:nvSpPr>
        <p:spPr>
          <a:xfrm>
            <a:off x="6217920" y="4160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6729984" y="4160520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</a:rPr>
              <a:t>/dashboard/admin/overview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6729984" y="4270248"/>
            <a:ext cx="210312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Vue RH globale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6858000" y="47091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30+ endpoints au ttal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0" y="1470025"/>
            <a:ext cx="3471545" cy="1894205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230" y="1141095"/>
            <a:ext cx="4079875" cy="3017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pPr marL="0" indent="0">
              <a:buNone/>
            </a:pPr>
            <a:endParaRPr lang="en-US" b="1" dirty="0">
              <a:solidFill>
                <a:srgbClr val="FFFFFF"/>
              </a:solidFill>
              <a:sym typeface="+mn-ea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sym typeface="+mn-ea"/>
              </a:rPr>
              <a:t> </a:t>
            </a:r>
            <a:r>
              <a:rPr lang="fr-FR" altLang="en-US" sz="2400" b="1" dirty="0">
                <a:solidFill>
                  <a:srgbClr val="FFFFFF"/>
                </a:solidFill>
                <a:sym typeface="+mn-ea"/>
              </a:rPr>
              <a:t> </a:t>
            </a:r>
            <a:r>
              <a:rPr lang="en-US" sz="2400" b="1" dirty="0">
                <a:solidFill>
                  <a:srgbClr val="FFFFFF"/>
                </a:solidFill>
                <a:sym typeface="+mn-ea"/>
              </a:rPr>
              <a:t>04  |  API REST — Endpoints</a:t>
            </a:r>
            <a:endParaRPr lang="en-US" altLang="en-US" sz="2400" b="1" dirty="0">
              <a:solidFill>
                <a:srgbClr val="FFFF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  |  Sécurité JWT &amp; Authentification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Flux d'authentification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" y="1580388"/>
            <a:ext cx="640080" cy="640080"/>
          </a:xfrm>
          <a:prstGeom prst="ellipse">
            <a:avLst/>
          </a:prstGeom>
          <a:solidFill>
            <a:srgbClr val="2563E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4813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22311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Register / Login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25054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Email + mdp + rôle choisi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00200" y="1764792"/>
            <a:ext cx="347472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2478024" y="1481328"/>
            <a:ext cx="640080" cy="640080"/>
          </a:xfrm>
          <a:prstGeom prst="ellipse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78024" y="14813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47672" y="22311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Vérification BCrypt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7672" y="25054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Spring Security valide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9272" y="1764792"/>
            <a:ext cx="347472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Shape 13"/>
          <p:cNvSpPr/>
          <p:nvPr/>
        </p:nvSpPr>
        <p:spPr>
          <a:xfrm>
            <a:off x="4197096" y="1481328"/>
            <a:ext cx="640080" cy="640080"/>
          </a:xfrm>
          <a:prstGeom prst="ellipse">
            <a:avLst/>
          </a:prstGeom>
          <a:solidFill>
            <a:srgbClr val="7C3AE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97096" y="14813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6744" y="22311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Génération JWT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66744" y="25054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Token signé 24h (JJWT 0.12.6)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38344" y="1764792"/>
            <a:ext cx="347472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Shape 18"/>
          <p:cNvSpPr/>
          <p:nvPr/>
        </p:nvSpPr>
        <p:spPr>
          <a:xfrm>
            <a:off x="5916168" y="1481328"/>
            <a:ext cx="640080" cy="640080"/>
          </a:xfrm>
          <a:prstGeom prst="ellipse">
            <a:avLst/>
          </a:prstGeom>
          <a:solidFill>
            <a:srgbClr val="10B981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16168" y="14813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85816" y="22311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Bearer Token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85816" y="25054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HttpInterceptor Angular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57416" y="1764792"/>
            <a:ext cx="347472" cy="7315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Shape 23"/>
          <p:cNvSpPr/>
          <p:nvPr/>
        </p:nvSpPr>
        <p:spPr>
          <a:xfrm>
            <a:off x="7635240" y="1481328"/>
            <a:ext cx="640080" cy="640080"/>
          </a:xfrm>
          <a:prstGeom prst="ellipse">
            <a:avLst/>
          </a:prstGeom>
          <a:solidFill>
            <a:srgbClr val="F59E0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148132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223113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Autorisation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04888" y="25054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@PreAuthorize par rôle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907665"/>
            <a:ext cx="3850640" cy="29273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320040" y="290779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Sécurité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3273552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Type auth: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3273552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JWT Stateless (aucune session serveur)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353872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Encodage mdp: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37360" y="3538728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BCrypt (BCryptPasswordEncoder)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380390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Expiry token: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37360" y="3803904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24 heures (86 400 000 ms)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406908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Secret JWT: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737360" y="4069080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${JWT_SECRET} — variable d'env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433425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CORS origins: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37360" y="4334256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${ALLOWED_ORIGINS} — configurable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" y="4599432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Forget pwd: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37360" y="4599432"/>
            <a:ext cx="2514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Token UUID 15 min + Spring Mail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09160" y="290779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Contrôle d'Accès par Rôle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36592" y="380390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36592" y="4334256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pic>
        <p:nvPicPr>
          <p:cNvPr id="56" name="Image 55" descr="Capture d'écran 2026-03-05 0308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07665"/>
            <a:ext cx="3359785" cy="333375"/>
          </a:xfrm>
          <a:prstGeom prst="rect">
            <a:avLst/>
          </a:prstGeom>
        </p:spPr>
      </p:pic>
      <p:pic>
        <p:nvPicPr>
          <p:cNvPr id="59" name="Imag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3241040"/>
            <a:ext cx="1621790" cy="949960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316095"/>
            <a:ext cx="3408680" cy="489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05  |  Frontend Angular — Composants &amp; Routes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816352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295" y="1078230"/>
            <a:ext cx="2816225" cy="274955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Text 4"/>
          <p:cNvSpPr/>
          <p:nvPr/>
        </p:nvSpPr>
        <p:spPr>
          <a:xfrm>
            <a:off x="292608" y="107899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Auth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" y="1408176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8" name="Text 6"/>
          <p:cNvSpPr/>
          <p:nvPr/>
        </p:nvSpPr>
        <p:spPr>
          <a:xfrm>
            <a:off x="365760" y="1426464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Login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/auth/login | Public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0896" y="1810512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Text 9"/>
          <p:cNvSpPr/>
          <p:nvPr/>
        </p:nvSpPr>
        <p:spPr>
          <a:xfrm>
            <a:off x="365760" y="1828800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Register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93392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/auth/register | Public + Choix rôle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0896" y="2212848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4" name="Text 12"/>
          <p:cNvSpPr/>
          <p:nvPr/>
        </p:nvSpPr>
        <p:spPr>
          <a:xfrm>
            <a:off x="365760" y="2231136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ForgotPassword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395728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/auth/forgot-password | Public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0896" y="2615184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7" name="Text 15"/>
          <p:cNvSpPr/>
          <p:nvPr/>
        </p:nvSpPr>
        <p:spPr>
          <a:xfrm>
            <a:off x="365760" y="2633472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ResetPassword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798064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/auth/reset-password | Public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54680" y="1078992"/>
            <a:ext cx="2816352" cy="20116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078992"/>
            <a:ext cx="2816352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1" name="Text 19"/>
          <p:cNvSpPr/>
          <p:nvPr/>
        </p:nvSpPr>
        <p:spPr>
          <a:xfrm>
            <a:off x="3246120" y="107899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1408176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" name="Text 21"/>
          <p:cNvSpPr/>
          <p:nvPr/>
        </p:nvSpPr>
        <p:spPr>
          <a:xfrm>
            <a:off x="3319272" y="1426464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UserDashboard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9272" y="1591056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/dashboard | authGuard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264408" y="1810512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6" name="Text 24"/>
          <p:cNvSpPr/>
          <p:nvPr/>
        </p:nvSpPr>
        <p:spPr>
          <a:xfrm>
            <a:off x="3319272" y="1828800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UserProfile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9272" y="1993392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/profile | authGuard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64408" y="2212848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Text 27"/>
          <p:cNvSpPr/>
          <p:nvPr/>
        </p:nvSpPr>
        <p:spPr>
          <a:xfrm>
            <a:off x="3319272" y="2231136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AdminDashboard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9272" y="2395728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/admin/dashboard | authGuard+roleGuard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64408" y="2615184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2" name="Text 30"/>
          <p:cNvSpPr/>
          <p:nvPr/>
        </p:nvSpPr>
        <p:spPr>
          <a:xfrm>
            <a:off x="3319272" y="2633472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AdminProfile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19272" y="2798064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/admin/profile | authGuard+roleGuard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26480" y="1078992"/>
            <a:ext cx="2816352" cy="160934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078992"/>
            <a:ext cx="2816352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6" name="Text 34"/>
          <p:cNvSpPr/>
          <p:nvPr/>
        </p:nvSpPr>
        <p:spPr>
          <a:xfrm>
            <a:off x="6217920" y="107899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Evaluation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36208" y="1408176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8" name="Text 36"/>
          <p:cNvSpPr/>
          <p:nvPr/>
        </p:nvSpPr>
        <p:spPr>
          <a:xfrm>
            <a:off x="6291072" y="1426464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PcmIntro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91072" y="1591056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/evaluation/intro | authGuard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236208" y="1810512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1" name="Text 39"/>
          <p:cNvSpPr/>
          <p:nvPr/>
        </p:nvSpPr>
        <p:spPr>
          <a:xfrm>
            <a:off x="6291072" y="1828800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PcmTest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91072" y="1993392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/evaluation/test | authGuard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36208" y="2212848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4" name="Text 42"/>
          <p:cNvSpPr/>
          <p:nvPr/>
        </p:nvSpPr>
        <p:spPr>
          <a:xfrm>
            <a:off x="6291072" y="2231136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TestResults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91072" y="2395728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/evaluation/results | authGuard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01168" y="2926080"/>
            <a:ext cx="2816352" cy="160934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01168" y="2926080"/>
            <a:ext cx="2816352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8" name="Text 46"/>
          <p:cNvSpPr/>
          <p:nvPr/>
        </p:nvSpPr>
        <p:spPr>
          <a:xfrm>
            <a:off x="292608" y="292608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Formation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0896" y="3255264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0" name="Text 48"/>
          <p:cNvSpPr/>
          <p:nvPr/>
        </p:nvSpPr>
        <p:spPr>
          <a:xfrm>
            <a:off x="365760" y="3273552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FormationList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5760" y="3438144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/formations | authGuard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10896" y="3657600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3" name="Text 51"/>
          <p:cNvSpPr/>
          <p:nvPr/>
        </p:nvSpPr>
        <p:spPr>
          <a:xfrm>
            <a:off x="365760" y="3675888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FormationCard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65760" y="3840480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— | Composant réutilisable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10896" y="4059936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6" name="Text 54"/>
          <p:cNvSpPr/>
          <p:nvPr/>
        </p:nvSpPr>
        <p:spPr>
          <a:xfrm>
            <a:off x="365760" y="4078224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ProgressTracker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4242816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— | Barre de progression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154680" y="2926080"/>
            <a:ext cx="2816352" cy="1207008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154680" y="2926080"/>
            <a:ext cx="2816352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0" name="Text 58"/>
          <p:cNvSpPr/>
          <p:nvPr/>
        </p:nvSpPr>
        <p:spPr>
          <a:xfrm>
            <a:off x="3246120" y="292608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Skills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64408" y="3255264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2" name="Text 60"/>
          <p:cNvSpPr/>
          <p:nvPr/>
        </p:nvSpPr>
        <p:spPr>
          <a:xfrm>
            <a:off x="3319272" y="3273552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GithubAnalyzer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9272" y="3438144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/skills/github | authGuard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64408" y="3657600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65" name="Text 63"/>
          <p:cNvSpPr/>
          <p:nvPr/>
        </p:nvSpPr>
        <p:spPr>
          <a:xfrm>
            <a:off x="3319272" y="3675888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SkillComparison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319272" y="3840480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/skills/comparison | authGuard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126480" y="2926080"/>
            <a:ext cx="2816352" cy="1609344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126480" y="2926080"/>
            <a:ext cx="2816352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9" name="Text 67"/>
          <p:cNvSpPr/>
          <p:nvPr/>
        </p:nvSpPr>
        <p:spPr>
          <a:xfrm>
            <a:off x="6217920" y="2926080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Module: Admin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236208" y="3255264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1" name="Text 69"/>
          <p:cNvSpPr/>
          <p:nvPr/>
        </p:nvSpPr>
        <p:spPr>
          <a:xfrm>
            <a:off x="6291072" y="3273552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UserManagement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91072" y="3438144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/admin/users | authGuard+roleGuard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36208" y="3657600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4" name="Text 72"/>
          <p:cNvSpPr/>
          <p:nvPr/>
        </p:nvSpPr>
        <p:spPr>
          <a:xfrm>
            <a:off x="6291072" y="3675888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Reports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291072" y="3840480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/admin/reports | authGuard+roleGuard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236208" y="4059936"/>
            <a:ext cx="2596896" cy="34747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77" name="Text 75"/>
          <p:cNvSpPr/>
          <p:nvPr/>
        </p:nvSpPr>
        <p:spPr>
          <a:xfrm>
            <a:off x="6291072" y="4078224"/>
            <a:ext cx="2542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JiraTickets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291072" y="4242816"/>
            <a:ext cx="254203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/jira | authGuard+roleGuard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3" name="Image 2" descr="Capture d'écran 2026-03-04 2046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485" y="1194435"/>
            <a:ext cx="5653405" cy="3566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 </a:t>
            </a:r>
            <a:endParaRPr lang="fr-FR" altLang="en-US" b="1" dirty="0">
              <a:solidFill>
                <a:srgbClr val="FFFFFF"/>
              </a:solidFill>
              <a:sym typeface="+mn-ea"/>
            </a:endParaRPr>
          </a:p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</a:t>
            </a:r>
            <a:r>
              <a:rPr lang="fr-FR" altLang="en-US" sz="2000" b="1" dirty="0">
                <a:solidFill>
                  <a:srgbClr val="FFFFFF"/>
                </a:solidFill>
                <a:sym typeface="+mn-ea"/>
              </a:rPr>
              <a:t> </a:t>
            </a:r>
            <a:r>
              <a:rPr lang="en-US" sz="2000" b="1" dirty="0">
                <a:solidFill>
                  <a:srgbClr val="FFFFFF"/>
                </a:solidFill>
                <a:sym typeface="+mn-ea"/>
              </a:rPr>
              <a:t>05  |  Frontend Angular — Composants &amp; Routes</a:t>
            </a:r>
            <a:endParaRPr lang="en-US" altLang="en-US" sz="2000" b="1" dirty="0">
              <a:solidFill>
                <a:srgbClr val="FFFF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2" descr="Capture d'écran 2026-03-04 2046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290" y="1490345"/>
            <a:ext cx="3460750" cy="216344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 </a:t>
            </a:r>
            <a:endParaRPr lang="fr-FR" altLang="en-US" b="1" dirty="0">
              <a:solidFill>
                <a:srgbClr val="FFFFFF"/>
              </a:solidFill>
              <a:sym typeface="+mn-ea"/>
            </a:endParaRPr>
          </a:p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 </a:t>
            </a:r>
            <a:r>
              <a:rPr lang="en-US" sz="2000" b="1" dirty="0">
                <a:solidFill>
                  <a:srgbClr val="FFFFFF"/>
                </a:solidFill>
                <a:sym typeface="+mn-ea"/>
              </a:rPr>
              <a:t>05  |  Frontend Angular — Composants &amp; Routes</a:t>
            </a:r>
            <a:endParaRPr lang="en-US" altLang="en-US" sz="2000" b="1" dirty="0">
              <a:solidFill>
                <a:srgbClr val="FFFFFF"/>
              </a:solidFill>
              <a:sym typeface="+mn-ea"/>
            </a:endParaRPr>
          </a:p>
        </p:txBody>
      </p:sp>
      <p:pic>
        <p:nvPicPr>
          <p:cNvPr id="8" name="Image 7" descr="Capture d'écran 2026-03-04 235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05" y="1359535"/>
            <a:ext cx="2248535" cy="2640330"/>
          </a:xfrm>
          <a:prstGeom prst="rect">
            <a:avLst/>
          </a:prstGeom>
        </p:spPr>
      </p:pic>
      <p:pic>
        <p:nvPicPr>
          <p:cNvPr id="9" name="Image 8" descr="Capture d'écran 2026-03-04 2352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10" y="1490345"/>
            <a:ext cx="2231390" cy="2294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3" descr="Capture d'écran 2026-03-04 2047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870" y="1136650"/>
            <a:ext cx="3453130" cy="2101850"/>
          </a:xfrm>
          <a:prstGeom prst="rect">
            <a:avLst/>
          </a:prstGeom>
        </p:spPr>
      </p:pic>
      <p:pic>
        <p:nvPicPr>
          <p:cNvPr id="2" name="Image 1" descr="Capture d'écran 2026-03-04 2050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2996565"/>
            <a:ext cx="2683510" cy="1838960"/>
          </a:xfrm>
          <a:prstGeom prst="rect">
            <a:avLst/>
          </a:prstGeom>
        </p:spPr>
      </p:pic>
      <p:pic>
        <p:nvPicPr>
          <p:cNvPr id="5" name="Image 4" descr="Capture d'écran 2026-03-04 2050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40" y="1136650"/>
            <a:ext cx="3371215" cy="207454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 </a:t>
            </a:r>
            <a:endParaRPr lang="fr-FR" altLang="en-US" b="1" dirty="0">
              <a:solidFill>
                <a:srgbClr val="FFFFFF"/>
              </a:solidFill>
              <a:sym typeface="+mn-ea"/>
            </a:endParaRPr>
          </a:p>
          <a:p>
            <a:pPr marL="0" indent="0">
              <a:buNone/>
            </a:pPr>
            <a:r>
              <a:rPr lang="fr-FR" altLang="en-US" b="1" dirty="0">
                <a:solidFill>
                  <a:srgbClr val="FFFFFF"/>
                </a:solidFill>
                <a:sym typeface="+mn-ea"/>
              </a:rPr>
              <a:t>  </a:t>
            </a:r>
            <a:r>
              <a:rPr lang="en-US" sz="2000" b="1" dirty="0">
                <a:solidFill>
                  <a:srgbClr val="FFFFFF"/>
                </a:solidFill>
                <a:sym typeface="+mn-ea"/>
              </a:rPr>
              <a:t>05  |  Frontend Angular — Composants &amp; Routes</a:t>
            </a:r>
            <a:endParaRPr lang="en-US" altLang="en-US" sz="2000" b="1" dirty="0">
              <a:solidFill>
                <a:srgbClr val="FFFFFF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06  |  Fonctionnalités IA — PCM &amp; GPT-4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Flux Tests PCM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44752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44752"/>
            <a:ext cx="54864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Shape 5"/>
          <p:cNvSpPr/>
          <p:nvPr/>
        </p:nvSpPr>
        <p:spPr>
          <a:xfrm>
            <a:off x="365760" y="1627632"/>
            <a:ext cx="310896" cy="31089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365760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51790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Intro PCM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9222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6 types personnalité présentés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2130552"/>
            <a:ext cx="73152" cy="12801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Shape 10"/>
          <p:cNvSpPr/>
          <p:nvPr/>
        </p:nvSpPr>
        <p:spPr>
          <a:xfrm>
            <a:off x="228600" y="2267712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267712"/>
            <a:ext cx="54864" cy="6858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Shape 12"/>
          <p:cNvSpPr/>
          <p:nvPr/>
        </p:nvSpPr>
        <p:spPr>
          <a:xfrm>
            <a:off x="365760" y="2450592"/>
            <a:ext cx="310896" cy="310896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365760" y="24505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499360"/>
            <a:ext cx="3291840" cy="115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Test interactif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61518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57400" y="2953512"/>
            <a:ext cx="73152" cy="12801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Shape 17"/>
          <p:cNvSpPr/>
          <p:nvPr/>
        </p:nvSpPr>
        <p:spPr>
          <a:xfrm>
            <a:off x="228600" y="3090672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fr-FR" altLang="en-US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54864" cy="6858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1" name="Shape 19"/>
          <p:cNvSpPr/>
          <p:nvPr/>
        </p:nvSpPr>
        <p:spPr>
          <a:xfrm>
            <a:off x="365760" y="3273552"/>
            <a:ext cx="310896" cy="310896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2" name="Text 20"/>
          <p:cNvSpPr/>
          <p:nvPr/>
        </p:nvSpPr>
        <p:spPr>
          <a:xfrm>
            <a:off x="365760" y="32735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16382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Analyse GPT-4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43814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OpenAI analyse les réponses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57400" y="3776472"/>
            <a:ext cx="73152" cy="12801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6" name="Shape 24"/>
          <p:cNvSpPr/>
          <p:nvPr/>
        </p:nvSpPr>
        <p:spPr>
          <a:xfrm>
            <a:off x="228600" y="3913632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913632"/>
            <a:ext cx="54864" cy="6858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8" name="Shape 26"/>
          <p:cNvSpPr/>
          <p:nvPr/>
        </p:nvSpPr>
        <p:spPr>
          <a:xfrm>
            <a:off x="365760" y="4096512"/>
            <a:ext cx="310896" cy="310896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365760" y="40965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9867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Résultats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26110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Rrecommandations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6 Types PCM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17720" y="1463040"/>
            <a:ext cx="1389888" cy="530352"/>
          </a:xfrm>
          <a:prstGeom prst="rect">
            <a:avLst/>
          </a:prstGeom>
          <a:solidFill>
            <a:srgbClr val="2563E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17720" y="146304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99048" y="1463040"/>
            <a:ext cx="1389888" cy="530352"/>
          </a:xfrm>
          <a:prstGeom prst="rect">
            <a:avLst/>
          </a:prstGeom>
          <a:solidFill>
            <a:srgbClr val="0D948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99048" y="146304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Amiable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80376" y="1463040"/>
            <a:ext cx="1389888" cy="530352"/>
          </a:xfrm>
          <a:prstGeom prst="rect">
            <a:avLst/>
          </a:prstGeom>
          <a:solidFill>
            <a:srgbClr val="EF4444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0376" y="146304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Directif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2103120"/>
            <a:ext cx="1389888" cy="530352"/>
          </a:xfrm>
          <a:prstGeom prst="rect">
            <a:avLst/>
          </a:prstGeom>
          <a:solidFill>
            <a:srgbClr val="F59E0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17720" y="210312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Expressif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99048" y="2103120"/>
            <a:ext cx="1389888" cy="530352"/>
          </a:xfrm>
          <a:prstGeom prst="rect">
            <a:avLst/>
          </a:prstGeom>
          <a:solidFill>
            <a:srgbClr val="7C3AE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099048" y="210312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Rebelle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80376" y="2103120"/>
            <a:ext cx="1389888" cy="530352"/>
          </a:xfrm>
          <a:prstGeom prst="rect">
            <a:avLst/>
          </a:prstGeom>
          <a:solidFill>
            <a:srgbClr val="10B981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580376" y="2103120"/>
            <a:ext cx="138988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Persévérant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2633472"/>
            <a:ext cx="4343400" cy="217627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fr-FR" altLang="en-US"/>
          </a:p>
        </p:txBody>
      </p:sp>
      <p:sp>
        <p:nvSpPr>
          <p:cNvPr id="46" name="Shape 44"/>
          <p:cNvSpPr/>
          <p:nvPr/>
        </p:nvSpPr>
        <p:spPr>
          <a:xfrm>
            <a:off x="4572000" y="2816352"/>
            <a:ext cx="4343400" cy="31089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7" name="Text 45"/>
          <p:cNvSpPr/>
          <p:nvPr/>
        </p:nvSpPr>
        <p:spPr>
          <a:xfrm>
            <a:off x="4663440" y="281635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Prédictions IA — GPT-4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81728" y="320040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API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0" y="320040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POST /predictions/accounts/{id}/generer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81728" y="348386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→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0" y="348386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Collecte : tests PCM + compétences de l'employé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81728" y="3767328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→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29200" y="3767328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Prompt structuré envoyé à OpenAI GPT-4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81728" y="4050792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→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29200" y="405079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Réponse : analyse carrière + recommandations SOFT/TECH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81855" y="4465320"/>
            <a:ext cx="320040" cy="14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078095" y="4407535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Formations personnalisées proposées automatiquement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457200" y="12319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</a:t>
            </a:r>
            <a:r>
              <a:rPr lang="fr-FR" alt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</a:t>
            </a: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votre attention 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4860"/>
            <a:ext cx="7315200" cy="415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</a:rPr>
              <a:t>TalentPredict — Plateforme IA de Gestion des Talents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898775"/>
            <a:ext cx="8229600" cy="36576"/>
          </a:xfrm>
          <a:prstGeom prst="rect">
            <a:avLst/>
          </a:prstGeom>
          <a:solidFill>
            <a:srgbClr val="0D9488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6298</Words>
  <Application>WPS Presentation</Application>
  <PresentationFormat>On-screen Show (16:9)</PresentationFormat>
  <Paragraphs>676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TalentPredict - Présentation Projet</dc:title>
  <dc:creator>PptxGenJS</dc:creator>
  <dc:subject>PptxGenJS Presentation</dc:subject>
  <cp:lastModifiedBy>rahma</cp:lastModifiedBy>
  <cp:revision>2</cp:revision>
  <dcterms:created xsi:type="dcterms:W3CDTF">2026-03-05T00:40:00Z</dcterms:created>
  <dcterms:modified xsi:type="dcterms:W3CDTF">2026-03-05T02:46:15Z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2CE4B86C48614617A14568AD96770A41_12</vt:lpwstr>
  </property>
  <property fmtid="{D5CDD505-2E9C-101B-9397-08002B2CF9AE}" pid="3" name="KSOProductBuildVer">
    <vt:lpwstr>1036-12.2.0.23196</vt:lpwstr>
  </property>
</Properties>
</file>